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8627" y="1051560"/>
            <a:ext cx="1234440" cy="1234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25146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E8EEF8"/>
                </a:solidFill>
                <a:latin typeface="Segoe UI"/>
              </a:rPr>
              <a:t>AntiScam </a:t>
            </a:r>
            <a:r>
              <a:rPr sz="5200" b="1">
                <a:solidFill>
                  <a:srgbClr val="60A5FA"/>
                </a:solidFill>
                <a:latin typeface="Segoe UI"/>
              </a:rPr>
              <a:t>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61188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900" b="0" i="0">
                <a:solidFill>
                  <a:srgbClr val="9AA8C2"/>
                </a:solidFill>
                <a:latin typeface="Segoe UI"/>
              </a:rPr>
              <a:t>Real-Time Digital Fraud Interception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11480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 i="1">
                <a:solidFill>
                  <a:srgbClr val="647288"/>
                </a:solidFill>
                <a:latin typeface="Segoe UI"/>
              </a:rPr>
              <a:t>Intercepting conversational fraud — before the money moves.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90007" y="4709160"/>
            <a:ext cx="2011680" cy="27432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4937760"/>
            <a:ext cx="1219169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E8EEF8"/>
                </a:solidFill>
                <a:latin typeface="Segoe UI"/>
              </a:rPr>
              <a:t>ET AI Hackathon 2026   ·   Problem 6: AI for Digital Public Safety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5440680"/>
            <a:ext cx="1219169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9AA8C2"/>
                </a:solidFill>
                <a:latin typeface="Segoe UI"/>
              </a:rPr>
              <a:t>Submitted by  Pavankumar T   ·   pavankumart.aids2024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5852160"/>
            <a:ext cx="1219169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60A5FA"/>
                </a:solidFill>
                <a:latin typeface="Segoe UI"/>
              </a:rPr>
              <a:t>github.com/Pavankumar06T/AntiScam-AI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310896" cy="9144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45720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60A5FA"/>
                </a:solidFill>
                <a:latin typeface="Segoe U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E8EEF8"/>
                </a:solidFill>
                <a:latin typeface="Segoe UI"/>
              </a:rPr>
              <a:t>Scams that hold people hostage — over a video call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0908792" cy="12801"/>
          </a:xfrm>
          <a:prstGeom prst="rect">
            <a:avLst/>
          </a:prstGeom>
          <a:solidFill>
            <a:srgbClr val="2A3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9AA8C2"/>
                </a:solidFill>
                <a:latin typeface="Segoe UI"/>
              </a:rPr>
              <a:t>In a “digital arrest” scam, fraudsters impersonate CBI, ED or Customs officers on a video call, fabricate a criminal case, and psychologically hold the victim hostage until they transfer their savings to a “safe account.”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880360"/>
            <a:ext cx="3520440" cy="1691640"/>
          </a:xfrm>
          <a:prstGeom prst="roundRect">
            <a:avLst>
              <a:gd name="adj" fmla="val 8000"/>
            </a:avLst>
          </a:prstGeom>
          <a:solidFill>
            <a:srgbClr val="18213A"/>
          </a:solidFill>
          <a:ln w="12700">
            <a:solidFill>
              <a:srgbClr val="2A3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081528"/>
            <a:ext cx="35204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F87171"/>
                </a:solidFill>
                <a:latin typeface="Segoe UI"/>
              </a:rPr>
              <a:t>₹1,776 cr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005072"/>
            <a:ext cx="3429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9AA8C2"/>
                </a:solidFill>
                <a:latin typeface="Segoe UI"/>
              </a:rPr>
              <a:t>lost to digital-arrest scams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261104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647288"/>
                </a:solidFill>
                <a:latin typeface="Segoe UI"/>
              </a:rPr>
              <a:t>first 9 months of 2024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2880360"/>
            <a:ext cx="3520440" cy="1691640"/>
          </a:xfrm>
          <a:prstGeom prst="roundRect">
            <a:avLst>
              <a:gd name="adj" fmla="val 8000"/>
            </a:avLst>
          </a:prstGeom>
          <a:solidFill>
            <a:srgbClr val="18213A"/>
          </a:solidFill>
          <a:ln w="12700">
            <a:solidFill>
              <a:srgbClr val="2A3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3081528"/>
            <a:ext cx="35204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60A5FA"/>
                </a:solidFill>
                <a:latin typeface="Segoe UI"/>
              </a:rPr>
              <a:t>1.14 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4005072"/>
            <a:ext cx="3429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9AA8C2"/>
                </a:solidFill>
                <a:latin typeface="Segoe UI"/>
              </a:rPr>
              <a:t>cybercrime complaints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4261104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647288"/>
                </a:solidFill>
                <a:latin typeface="Segoe UI"/>
              </a:rPr>
              <a:t>India, 2023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880360"/>
            <a:ext cx="3520440" cy="1691640"/>
          </a:xfrm>
          <a:prstGeom prst="roundRect">
            <a:avLst>
              <a:gd name="adj" fmla="val 8000"/>
            </a:avLst>
          </a:prstGeom>
          <a:solidFill>
            <a:srgbClr val="18213A"/>
          </a:solidFill>
          <a:ln w="12700">
            <a:solidFill>
              <a:srgbClr val="2A3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3081528"/>
            <a:ext cx="35204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EAB308"/>
                </a:solidFill>
                <a:latin typeface="Segoe UI"/>
              </a:rPr>
              <a:t>minutes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4005072"/>
            <a:ext cx="3429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9AA8C2"/>
                </a:solidFill>
                <a:latin typeface="Segoe UI"/>
              </a:rPr>
              <a:t>to drain a mule account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4261104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647288"/>
                </a:solidFill>
                <a:latin typeface="Segoe UI"/>
              </a:rPr>
              <a:t>money moves fast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892040"/>
            <a:ext cx="10908792" cy="914400"/>
          </a:xfrm>
          <a:prstGeom prst="roundRect">
            <a:avLst>
              <a:gd name="adj" fmla="val 8000"/>
            </a:avLst>
          </a:prstGeom>
          <a:solidFill>
            <a:srgbClr val="11182B"/>
          </a:solidFill>
          <a:ln w="12700">
            <a:solidFill>
              <a:srgbClr val="5A22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4892040"/>
            <a:ext cx="82296" cy="91440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029200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E8EEF8"/>
                </a:solidFill>
                <a:latin typeface="Segoe UI"/>
              </a:rPr>
              <a:t>These are industrialised operations — spoofed numbers, AI-generated voices, fake government portals, and networks of mule accounts. Law enforcement lacks intelligence BEFORE mass victimisation, not after.</a:t>
            </a:r>
          </a:p>
        </p:txBody>
      </p:sp>
      <p:pic>
        <p:nvPicPr>
          <p:cNvPr id="22" name="Picture 2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00800"/>
            <a:ext cx="219456" cy="21945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1440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288"/>
                </a:solidFill>
                <a:latin typeface="Segoe UI"/>
              </a:rPr>
              <a:t>AntiScam 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6400800"/>
            <a:ext cx="28620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47288"/>
                </a:solidFill>
                <a:latin typeface="Segoe UI"/>
              </a:rPr>
              <a:t>02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310896" cy="9144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45720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60A5FA"/>
                </a:solidFill>
                <a:latin typeface="Segoe UI"/>
              </a:rPr>
              <a:t>THE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E8EEF8"/>
                </a:solidFill>
                <a:latin typeface="Segoe UI"/>
              </a:rPr>
              <a:t>Everyone shows up after the money is gone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0908792" cy="12801"/>
          </a:xfrm>
          <a:prstGeom prst="rect">
            <a:avLst/>
          </a:prstGeom>
          <a:solidFill>
            <a:srgbClr val="2A3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3566160" cy="2148840"/>
          </a:xfrm>
          <a:prstGeom prst="roundRect">
            <a:avLst>
              <a:gd name="adj" fmla="val 8000"/>
            </a:avLst>
          </a:prstGeom>
          <a:solidFill>
            <a:srgbClr val="18213A"/>
          </a:solidFill>
          <a:ln w="12700">
            <a:solidFill>
              <a:srgbClr val="2A3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96112" y="2212848"/>
            <a:ext cx="457200" cy="54864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395728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E8EEF8"/>
                </a:solidFill>
                <a:latin typeface="Segoe UI"/>
              </a:rPr>
              <a:t>After the fact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971800"/>
            <a:ext cx="30632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250" b="0" i="0">
                <a:solidFill>
                  <a:srgbClr val="9AA8C2"/>
                </a:solidFill>
                <a:latin typeface="Segoe UI"/>
              </a:rPr>
              <a:t>Complaint portals and transaction-fraud tools engage once the money has already moved.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8264" y="1920240"/>
            <a:ext cx="3566160" cy="2148840"/>
          </a:xfrm>
          <a:prstGeom prst="roundRect">
            <a:avLst>
              <a:gd name="adj" fmla="val 8000"/>
            </a:avLst>
          </a:prstGeom>
          <a:solidFill>
            <a:srgbClr val="18213A"/>
          </a:solidFill>
          <a:ln w="12700">
            <a:solidFill>
              <a:srgbClr val="2A3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54296" y="2212848"/>
            <a:ext cx="457200" cy="54864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54296" y="2395728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E8EEF8"/>
                </a:solidFill>
                <a:latin typeface="Segoe UI"/>
              </a:rPr>
              <a:t>One call at a 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4296" y="2971800"/>
            <a:ext cx="30632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250" b="0" i="0">
                <a:solidFill>
                  <a:srgbClr val="9AA8C2"/>
                </a:solidFill>
                <a:latin typeface="Segoe UI"/>
              </a:rPr>
              <a:t>They judge each conversation in isolation — blind to the same account working dozens of victims.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6448" y="1920240"/>
            <a:ext cx="3566160" cy="2148840"/>
          </a:xfrm>
          <a:prstGeom prst="roundRect">
            <a:avLst>
              <a:gd name="adj" fmla="val 8000"/>
            </a:avLst>
          </a:prstGeom>
          <a:solidFill>
            <a:srgbClr val="18213A"/>
          </a:solidFill>
          <a:ln w="12700">
            <a:solidFill>
              <a:srgbClr val="2A3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12480" y="2212848"/>
            <a:ext cx="457200" cy="54864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2395728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E8EEF8"/>
                </a:solidFill>
                <a:latin typeface="Segoe UI"/>
              </a:rPr>
              <a:t>Never in the moment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971800"/>
            <a:ext cx="30632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250" b="0" i="0">
                <a:solidFill>
                  <a:srgbClr val="9AA8C2"/>
                </a:solidFill>
                <a:latin typeface="Segoe UI"/>
              </a:rPr>
              <a:t>Nothing reaches the victim during the call, when a 30-second warning would stop the transfer.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480560"/>
            <a:ext cx="10908792" cy="1188720"/>
          </a:xfrm>
          <a:prstGeom prst="roundRect">
            <a:avLst>
              <a:gd name="adj" fmla="val 8000"/>
            </a:avLst>
          </a:prstGeom>
          <a:solidFill>
            <a:srgbClr val="0F1C33"/>
          </a:solidFill>
          <a:ln w="1778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681728"/>
            <a:ext cx="102412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0A5FA"/>
                </a:solidFill>
                <a:latin typeface="Segoe UI"/>
              </a:rPr>
              <a:t>THE INTELLIGENCE GAP IS BEFORE VICTIMISATION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5074920"/>
            <a:ext cx="102412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E8EEF8"/>
                </a:solidFill>
                <a:latin typeface="Segoe UI"/>
              </a:rPr>
              <a:t>AntiScam AI operates at the point of contact — shifting fraud response from reactive investigation to proactive interception.</a:t>
            </a:r>
          </a:p>
        </p:txBody>
      </p:sp>
      <p:pic>
        <p:nvPicPr>
          <p:cNvPr id="21" name="Picture 20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00800"/>
            <a:ext cx="219456" cy="21945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1440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288"/>
                </a:solidFill>
                <a:latin typeface="Segoe UI"/>
              </a:rPr>
              <a:t>AntiScam 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6400800"/>
            <a:ext cx="28620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47288"/>
                </a:solidFill>
                <a:latin typeface="Segoe UI"/>
              </a:rPr>
              <a:t>03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310896" cy="9144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45720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60A5FA"/>
                </a:solidFill>
                <a:latin typeface="Segoe UI"/>
              </a:rP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E8EEF8"/>
                </a:solidFill>
                <a:latin typeface="Segoe UI"/>
              </a:rPr>
              <a:t>A multi-agent system that intercepts scams in real time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0908792" cy="12801"/>
          </a:xfrm>
          <a:prstGeom prst="rect">
            <a:avLst/>
          </a:prstGeom>
          <a:solidFill>
            <a:srgbClr val="2A3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9AA8C2"/>
                </a:solidFill>
                <a:latin typeface="Segoe UI"/>
              </a:rPr>
              <a:t>It monitors a live call, and the moment risk is real it links, warns, and disrupts — automatically.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468880"/>
            <a:ext cx="2606040" cy="2651760"/>
          </a:xfrm>
          <a:prstGeom prst="roundRect">
            <a:avLst>
              <a:gd name="adj" fmla="val 8000"/>
            </a:avLst>
          </a:prstGeom>
          <a:solidFill>
            <a:srgbClr val="18213A"/>
          </a:solidFill>
          <a:ln w="12700">
            <a:solidFill>
              <a:srgbClr val="2A3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2743200"/>
            <a:ext cx="566928" cy="56692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825496"/>
            <a:ext cx="56692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2044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3B82F6"/>
                </a:solidFill>
                <a:latin typeface="Segoe UI"/>
              </a:rPr>
              <a:t>DETECT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31920"/>
            <a:ext cx="210312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250" b="0" i="0">
                <a:solidFill>
                  <a:srgbClr val="9AA8C2"/>
                </a:solidFill>
                <a:latin typeface="Segoe UI"/>
              </a:rPr>
              <a:t>Score scam risk from language, live, turn by turn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27248" y="356616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647288"/>
                </a:solidFill>
                <a:latin typeface="Segoe UI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2468880"/>
            <a:ext cx="2606040" cy="2651760"/>
          </a:xfrm>
          <a:prstGeom prst="roundRect">
            <a:avLst>
              <a:gd name="adj" fmla="val 8000"/>
            </a:avLst>
          </a:prstGeom>
          <a:solidFill>
            <a:srgbClr val="18213A"/>
          </a:solidFill>
          <a:ln w="12700">
            <a:solidFill>
              <a:srgbClr val="2A3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703320" y="2743200"/>
            <a:ext cx="566928" cy="56692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03320" y="2825496"/>
            <a:ext cx="56692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352044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7C3AED"/>
                </a:solidFill>
                <a:latin typeface="Segoe UI"/>
              </a:rPr>
              <a:t>LINK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3931920"/>
            <a:ext cx="210312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250" b="0" i="0">
                <a:solidFill>
                  <a:srgbClr val="9AA8C2"/>
                </a:solidFill>
                <a:latin typeface="Segoe UI"/>
              </a:rPr>
              <a:t>Cross-reference identifiers against a fraud graph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16168" y="356616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647288"/>
                </a:solidFill>
                <a:latin typeface="Segoe UI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468880"/>
            <a:ext cx="2606040" cy="2651760"/>
          </a:xfrm>
          <a:prstGeom prst="roundRect">
            <a:avLst>
              <a:gd name="adj" fmla="val 8000"/>
            </a:avLst>
          </a:prstGeom>
          <a:solidFill>
            <a:srgbClr val="18213A"/>
          </a:solidFill>
          <a:ln w="12700">
            <a:solidFill>
              <a:srgbClr val="2A3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92240" y="2743200"/>
            <a:ext cx="566928" cy="566928"/>
          </a:xfrm>
          <a:prstGeom prst="ellipse">
            <a:avLst/>
          </a:prstGeom>
          <a:solidFill>
            <a:srgbClr val="34D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825496"/>
            <a:ext cx="56692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52044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34D07E"/>
                </a:solidFill>
                <a:latin typeface="Segoe UI"/>
              </a:rPr>
              <a:t>WARN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931920"/>
            <a:ext cx="210312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250" b="0" i="0">
                <a:solidFill>
                  <a:srgbClr val="9AA8C2"/>
                </a:solidFill>
                <a:latin typeface="Segoe UI"/>
              </a:rPr>
              <a:t>Deliver a cited, plain-language alert in 3 languages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05088" y="356616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647288"/>
                </a:solidFill>
                <a:latin typeface="Segoe UI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06839" y="2468880"/>
            <a:ext cx="2606040" cy="2651760"/>
          </a:xfrm>
          <a:prstGeom prst="roundRect">
            <a:avLst>
              <a:gd name="adj" fmla="val 8000"/>
            </a:avLst>
          </a:prstGeom>
          <a:solidFill>
            <a:srgbClr val="18213A"/>
          </a:solidFill>
          <a:ln w="12700">
            <a:solidFill>
              <a:srgbClr val="2A3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281159" y="2743200"/>
            <a:ext cx="566928" cy="566928"/>
          </a:xfrm>
          <a:prstGeom prst="ellipse">
            <a:avLst/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81159" y="2825496"/>
            <a:ext cx="56692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81159" y="352044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EAB308"/>
                </a:solidFill>
                <a:latin typeface="Segoe UI"/>
              </a:rPr>
              <a:t>DISRUPT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81159" y="3931920"/>
            <a:ext cx="210312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250" b="0" i="0">
                <a:solidFill>
                  <a:srgbClr val="9AA8C2"/>
                </a:solidFill>
                <a:latin typeface="Segoe UI"/>
              </a:rPr>
              <a:t>Freeze the mule account; draft the complaint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5440680"/>
            <a:ext cx="10908792" cy="685800"/>
          </a:xfrm>
          <a:prstGeom prst="roundRect">
            <a:avLst>
              <a:gd name="adj" fmla="val 8000"/>
            </a:avLst>
          </a:prstGeom>
          <a:solidFill>
            <a:srgbClr val="11182B"/>
          </a:solidFill>
          <a:ln w="12700">
            <a:solidFill>
              <a:srgbClr val="2A3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596128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9AA8C2"/>
                </a:solidFill>
                <a:latin typeface="Segoe UI"/>
              </a:rPr>
              <a:t>Four LangGraph agents, conditionally routed — so ordinary calls cost almost nothing and only genuine scams trigger the full response.</a:t>
            </a:r>
          </a:p>
        </p:txBody>
      </p:sp>
      <p:pic>
        <p:nvPicPr>
          <p:cNvPr id="32" name="Picture 3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00800"/>
            <a:ext cx="219456" cy="21945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91440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288"/>
                </a:solidFill>
                <a:latin typeface="Segoe UI"/>
              </a:rPr>
              <a:t>AntiScam AI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6400800"/>
            <a:ext cx="28620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47288"/>
                </a:solidFill>
                <a:latin typeface="Segoe UI"/>
              </a:rPr>
              <a:t>04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310896" cy="9144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45720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60A5FA"/>
                </a:solidFill>
                <a:latin typeface="Segoe UI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E8EEF8"/>
                </a:solidFill>
                <a:latin typeface="Segoe UI"/>
              </a:rPr>
              <a:t>A four-agent pipeline, orchestrated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0908792" cy="12801"/>
          </a:xfrm>
          <a:prstGeom prst="rect">
            <a:avLst/>
          </a:prstGeom>
          <a:solidFill>
            <a:srgbClr val="2A3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2567" y="1600200"/>
            <a:ext cx="6766560" cy="497825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0" y="6596742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1">
                <a:solidFill>
                  <a:srgbClr val="647288"/>
                </a:solidFill>
                <a:latin typeface="Segoe UI"/>
              </a:rPr>
              <a:t>Detection fuses a rule layer with a Groq LLM; downstream agents run only when risk crosses the threshold.</a:t>
            </a:r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400800"/>
            <a:ext cx="219456" cy="2194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288"/>
                </a:solidFill>
                <a:latin typeface="Segoe UI"/>
              </a:rPr>
              <a:t>AntiScam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400800"/>
            <a:ext cx="28620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47288"/>
                </a:solidFill>
                <a:latin typeface="Segoe UI"/>
              </a:rPr>
              <a:t>05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310896" cy="9144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45720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60A5FA"/>
                </a:solidFill>
                <a:latin typeface="Segoe UI"/>
              </a:rPr>
              <a:t>DIFFERENTIATOR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E8EEF8"/>
                </a:solidFill>
                <a:latin typeface="Segoe UI"/>
              </a:rPr>
              <a:t>We warn before the money is demanded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0908792" cy="12801"/>
          </a:xfrm>
          <a:prstGeom prst="rect">
            <a:avLst/>
          </a:prstGeom>
          <a:solidFill>
            <a:srgbClr val="2A3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525780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450" b="1">
                <a:solidFill>
                  <a:srgbClr val="3B82F6"/>
                </a:solidFill>
              </a:rPr>
              <a:t>▸  </a:t>
            </a:r>
            <a:r>
              <a:rPr sz="1450" b="1">
                <a:solidFill>
                  <a:srgbClr val="E8EEF8"/>
                </a:solidFill>
                <a:latin typeface="Segoe UI"/>
              </a:rPr>
              <a:t>Coercion kill-chain</a:t>
            </a:r>
            <a:r>
              <a:rPr sz="1450">
                <a:solidFill>
                  <a:srgbClr val="9AA8C2"/>
                </a:solidFill>
                <a:latin typeface="Segoe UI"/>
              </a:rPr>
              <a:t> — names where the call sits on the scam script: pretext → authority → fear → isolation → extraction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450" b="1">
                <a:solidFill>
                  <a:srgbClr val="3B82F6"/>
                </a:solidFill>
              </a:rPr>
              <a:t>▸  </a:t>
            </a:r>
            <a:r>
              <a:rPr sz="1450" b="1">
                <a:solidFill>
                  <a:srgbClr val="E8EEF8"/>
                </a:solidFill>
                <a:latin typeface="Segoe UI"/>
              </a:rPr>
              <a:t>Interception lead-time</a:t>
            </a:r>
            <a:r>
              <a:rPr sz="1450">
                <a:solidFill>
                  <a:srgbClr val="9AA8C2"/>
                </a:solidFill>
                <a:latin typeface="Segoe UI"/>
              </a:rPr>
              <a:t> — proves the warning fired seconds before the transfer was requested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450" b="1">
                <a:solidFill>
                  <a:srgbClr val="3B82F6"/>
                </a:solidFill>
              </a:rPr>
              <a:t>▸  </a:t>
            </a:r>
            <a:r>
              <a:rPr sz="1450" b="1">
                <a:solidFill>
                  <a:srgbClr val="E8EEF8"/>
                </a:solidFill>
                <a:latin typeface="Segoe UI"/>
              </a:rPr>
              <a:t>Fused rule + LLM detector</a:t>
            </a:r>
            <a:r>
              <a:rPr sz="1450">
                <a:solidFill>
                  <a:srgbClr val="9AA8C2"/>
                </a:solidFill>
                <a:latin typeface="Segoe UI"/>
              </a:rPr>
              <a:t> — explainable, and still works when the LLM is offline</a:t>
            </a:r>
          </a:p>
        </p:txBody>
      </p:sp>
      <p:pic>
        <p:nvPicPr>
          <p:cNvPr id="7" name="Picture 6" descr="moni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828800"/>
            <a:ext cx="5394960" cy="2958421"/>
          </a:xfrm>
          <a:prstGeom prst="rect">
            <a:avLst/>
          </a:prstGeom>
          <a:ln w="15875">
            <a:solidFill>
              <a:srgbClr val="37456B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172200" y="5149813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647288"/>
                </a:solidFill>
                <a:latin typeface="Segoe UI"/>
              </a:rPr>
              <a:t>Live monitor: risk 91 / Critical, kill-chain lit, intercepted before extraction.</a:t>
            </a:r>
          </a:p>
        </p:txBody>
      </p:sp>
      <p:pic>
        <p:nvPicPr>
          <p:cNvPr id="9" name="Picture 8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400800"/>
            <a:ext cx="219456" cy="2194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440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288"/>
                </a:solidFill>
                <a:latin typeface="Segoe UI"/>
              </a:rPr>
              <a:t>AntiScam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400800"/>
            <a:ext cx="28620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47288"/>
                </a:solidFill>
                <a:latin typeface="Segoe UI"/>
              </a:rPr>
              <a:t>06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310896" cy="9144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45720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60A5FA"/>
                </a:solidFill>
                <a:latin typeface="Segoe UI"/>
              </a:rPr>
              <a:t>DIFFERENTIATOR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E8EEF8"/>
                </a:solidFill>
                <a:latin typeface="Segoe UI"/>
              </a:rPr>
              <a:t>One operation, many victims — linked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0908792" cy="12801"/>
          </a:xfrm>
          <a:prstGeom prst="rect">
            <a:avLst/>
          </a:prstGeom>
          <a:solidFill>
            <a:srgbClr val="2A3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525780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450" b="1">
                <a:solidFill>
                  <a:srgbClr val="3B82F6"/>
                </a:solidFill>
              </a:rPr>
              <a:t>▸  </a:t>
            </a:r>
            <a:r>
              <a:rPr sz="1450" b="1">
                <a:solidFill>
                  <a:srgbClr val="E8EEF8"/>
                </a:solidFill>
                <a:latin typeface="Segoe UI"/>
              </a:rPr>
              <a:t>Cross-victim graph</a:t>
            </a:r>
            <a:r>
              <a:rPr sz="1450">
                <a:solidFill>
                  <a:srgbClr val="9AA8C2"/>
                </a:solidFill>
                <a:latin typeface="Segoe UI"/>
              </a:rPr>
              <a:t> — a live call quoting a known mule account reveals the wider operation instantly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450" b="1">
                <a:solidFill>
                  <a:srgbClr val="3B82F6"/>
                </a:solidFill>
              </a:rPr>
              <a:t>▸  </a:t>
            </a:r>
            <a:r>
              <a:rPr sz="1450" b="1">
                <a:solidFill>
                  <a:srgbClr val="E8EEF8"/>
                </a:solidFill>
                <a:latin typeface="Segoe UI"/>
              </a:rPr>
              <a:t>Precision linking</a:t>
            </a:r>
            <a:r>
              <a:rPr sz="1450">
                <a:solidFill>
                  <a:srgbClr val="9AA8C2"/>
                </a:solidFill>
                <a:latin typeface="Segoe UI"/>
              </a:rPr>
              <a:t> — only phone / UPI / account / case / URL create links — never generic claims like “CBI”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450" b="1">
                <a:solidFill>
                  <a:srgbClr val="3B82F6"/>
                </a:solidFill>
              </a:rPr>
              <a:t>▸  </a:t>
            </a:r>
            <a:r>
              <a:rPr sz="1450" b="1">
                <a:solidFill>
                  <a:srgbClr val="E8EEF8"/>
                </a:solidFill>
                <a:latin typeface="Segoe UI"/>
              </a:rPr>
              <a:t>Intelligence, not isolation</a:t>
            </a:r>
            <a:r>
              <a:rPr sz="1450">
                <a:solidFill>
                  <a:srgbClr val="9AA8C2"/>
                </a:solidFill>
                <a:latin typeface="Segoe UI"/>
              </a:rPr>
              <a:t> — turns scattered incidents into one prosecutable network</a:t>
            </a:r>
          </a:p>
        </p:txBody>
      </p:sp>
      <p:pic>
        <p:nvPicPr>
          <p:cNvPr id="7" name="Picture 6" descr="net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828800"/>
            <a:ext cx="5394960" cy="2958421"/>
          </a:xfrm>
          <a:prstGeom prst="rect">
            <a:avLst/>
          </a:prstGeom>
          <a:ln w="15875">
            <a:solidFill>
              <a:srgbClr val="37456B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172200" y="5149813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647288"/>
                </a:solidFill>
                <a:latin typeface="Segoe UI"/>
              </a:rPr>
              <a:t>Fraud graph: glowing red nodes are identifiers reused across victims.</a:t>
            </a:r>
          </a:p>
        </p:txBody>
      </p:sp>
      <p:pic>
        <p:nvPicPr>
          <p:cNvPr id="9" name="Picture 8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400800"/>
            <a:ext cx="219456" cy="2194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440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288"/>
                </a:solidFill>
                <a:latin typeface="Segoe UI"/>
              </a:rPr>
              <a:t>AntiScam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400800"/>
            <a:ext cx="28620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47288"/>
                </a:solidFill>
                <a:latin typeface="Segoe UI"/>
              </a:rPr>
              <a:t>07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310896" cy="9144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45720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60A5FA"/>
                </a:solidFill>
                <a:latin typeface="Segoe UI"/>
              </a:rPr>
              <a:t>DIFFERENTIATOR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E8EEF8"/>
                </a:solidFill>
                <a:latin typeface="Segoe UI"/>
              </a:rPr>
              <a:t>Cross-jurisdiction campaigns, on a 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0908792" cy="12801"/>
          </a:xfrm>
          <a:prstGeom prst="rect">
            <a:avLst/>
          </a:prstGeom>
          <a:solidFill>
            <a:srgbClr val="2A3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525780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450" b="1">
                <a:solidFill>
                  <a:srgbClr val="3B82F6"/>
                </a:solidFill>
              </a:rPr>
              <a:t>▸  </a:t>
            </a:r>
            <a:r>
              <a:rPr sz="1450" b="1">
                <a:solidFill>
                  <a:srgbClr val="E8EEF8"/>
                </a:solidFill>
                <a:latin typeface="Segoe UI"/>
              </a:rPr>
              <a:t>Geospatial intelligence</a:t>
            </a:r>
            <a:r>
              <a:rPr sz="1450">
                <a:solidFill>
                  <a:srgbClr val="9AA8C2"/>
                </a:solidFill>
                <a:latin typeface="Segoe UI"/>
              </a:rPr>
              <a:t> — plots victims by city and draws cross-victim arcs across jurisdictions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450" b="1">
                <a:solidFill>
                  <a:srgbClr val="3B82F6"/>
                </a:solidFill>
              </a:rPr>
              <a:t>▸  </a:t>
            </a:r>
            <a:r>
              <a:rPr sz="1450" b="1">
                <a:solidFill>
                  <a:srgbClr val="E8EEF8"/>
                </a:solidFill>
                <a:latin typeface="Segoe UI"/>
              </a:rPr>
              <a:t>One operation, three cities</a:t>
            </a:r>
            <a:r>
              <a:rPr sz="1450">
                <a:solidFill>
                  <a:srgbClr val="9AA8C2"/>
                </a:solidFill>
                <a:latin typeface="Segoe UI"/>
              </a:rPr>
              <a:t> — the digital-arrest cluster works Mumbai, Delhi and Bengaluru with the same identifiers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450" b="1">
                <a:solidFill>
                  <a:srgbClr val="3B82F6"/>
                </a:solidFill>
              </a:rPr>
              <a:t>▸  </a:t>
            </a:r>
            <a:r>
              <a:rPr sz="1450" b="1">
                <a:solidFill>
                  <a:srgbClr val="E8EEF8"/>
                </a:solidFill>
                <a:latin typeface="Segoe UI"/>
              </a:rPr>
              <a:t>Command-centre view</a:t>
            </a:r>
            <a:r>
              <a:rPr sz="1450">
                <a:solidFill>
                  <a:srgbClr val="9AA8C2"/>
                </a:solidFill>
                <a:latin typeface="Segoe UI"/>
              </a:rPr>
              <a:t> — actionable for inter-district intelligence sharing</a:t>
            </a:r>
          </a:p>
        </p:txBody>
      </p:sp>
      <p:pic>
        <p:nvPicPr>
          <p:cNvPr id="7" name="Picture 6" descr="geo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828800"/>
            <a:ext cx="5394960" cy="2958421"/>
          </a:xfrm>
          <a:prstGeom prst="rect">
            <a:avLst/>
          </a:prstGeom>
          <a:ln w="15875">
            <a:solidFill>
              <a:srgbClr val="37456B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172200" y="5149813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647288"/>
                </a:solidFill>
                <a:latin typeface="Segoe UI"/>
              </a:rPr>
              <a:t>Geographic map: a single coordinated campaign spanning cities.</a:t>
            </a:r>
          </a:p>
        </p:txBody>
      </p:sp>
      <p:pic>
        <p:nvPicPr>
          <p:cNvPr id="9" name="Picture 8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400800"/>
            <a:ext cx="219456" cy="2194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440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288"/>
                </a:solidFill>
                <a:latin typeface="Segoe UI"/>
              </a:rPr>
              <a:t>AntiScam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400800"/>
            <a:ext cx="28620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47288"/>
                </a:solidFill>
                <a:latin typeface="Segoe UI"/>
              </a:rPr>
              <a:t>08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310896" cy="9144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45720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60A5FA"/>
                </a:solidFill>
                <a:latin typeface="Segoe UI"/>
              </a:rPr>
              <a:t>DIFFERENTIATOR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E8EEF8"/>
                </a:solidFill>
                <a:latin typeface="Segoe UI"/>
              </a:rPr>
              <a:t>Detect → Disrupt: freeze the mule account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0908792" cy="12801"/>
          </a:xfrm>
          <a:prstGeom prst="rect">
            <a:avLst/>
          </a:prstGeom>
          <a:solidFill>
            <a:srgbClr val="2A3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525780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450" b="1">
                <a:solidFill>
                  <a:srgbClr val="3B82F6"/>
                </a:solidFill>
              </a:rPr>
              <a:t>▸  </a:t>
            </a:r>
            <a:r>
              <a:rPr sz="1450" b="1">
                <a:solidFill>
                  <a:srgbClr val="E8EEF8"/>
                </a:solidFill>
                <a:latin typeface="Segoe UI"/>
              </a:rPr>
              <a:t>Dispatch-ready containment</a:t>
            </a:r>
            <a:r>
              <a:rPr sz="1450">
                <a:solidFill>
                  <a:srgbClr val="9AA8C2"/>
                </a:solidFill>
                <a:latin typeface="Segoe UI"/>
              </a:rPr>
              <a:t> — freeze the account, block the number, take down the URL — routed to bank / NPCI / DoT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450" b="1">
                <a:solidFill>
                  <a:srgbClr val="3B82F6"/>
                </a:solidFill>
              </a:rPr>
              <a:t>▸  </a:t>
            </a:r>
            <a:r>
              <a:rPr sz="1450" b="1">
                <a:solidFill>
                  <a:srgbClr val="E8EEF8"/>
                </a:solidFill>
                <a:latin typeface="Segoe UI"/>
              </a:rPr>
              <a:t>Protects every linked victim</a:t>
            </a:r>
            <a:r>
              <a:rPr sz="1450">
                <a:solidFill>
                  <a:srgbClr val="9AA8C2"/>
                </a:solidFill>
                <a:latin typeface="Segoe UI"/>
              </a:rPr>
              <a:t> — actioning a shared identifier stops the money for the whole cluster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450" b="1">
                <a:solidFill>
                  <a:srgbClr val="3B82F6"/>
                </a:solidFill>
              </a:rPr>
              <a:t>▸  </a:t>
            </a:r>
            <a:r>
              <a:rPr sz="1450" b="1">
                <a:solidFill>
                  <a:srgbClr val="E8EEF8"/>
                </a:solidFill>
                <a:latin typeface="Segoe UI"/>
              </a:rPr>
              <a:t>Court-auditable</a:t>
            </a:r>
            <a:r>
              <a:rPr sz="1450">
                <a:solidFill>
                  <a:srgbClr val="9AA8C2"/>
                </a:solidFill>
                <a:latin typeface="Segoe UI"/>
              </a:rPr>
              <a:t> — deterministic identifiers + timestamped evidence + an NCRB-style complaint draft</a:t>
            </a:r>
          </a:p>
        </p:txBody>
      </p:sp>
      <p:pic>
        <p:nvPicPr>
          <p:cNvPr id="7" name="Picture 6" descr="disru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828800"/>
            <a:ext cx="5394960" cy="2958421"/>
          </a:xfrm>
          <a:prstGeom prst="rect">
            <a:avLst/>
          </a:prstGeom>
          <a:ln w="15875">
            <a:solidFill>
              <a:srgbClr val="37456B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172200" y="5149813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647288"/>
                </a:solidFill>
                <a:latin typeface="Segoe UI"/>
              </a:rPr>
              <a:t>Disruption packet: freeze the account linked to 3 victims.</a:t>
            </a:r>
          </a:p>
        </p:txBody>
      </p:sp>
      <p:pic>
        <p:nvPicPr>
          <p:cNvPr id="9" name="Picture 8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400800"/>
            <a:ext cx="219456" cy="2194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440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288"/>
                </a:solidFill>
                <a:latin typeface="Segoe UI"/>
              </a:rPr>
              <a:t>AntiScam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400800"/>
            <a:ext cx="28620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47288"/>
                </a:solidFill>
                <a:latin typeface="Segoe UI"/>
              </a:rPr>
              <a:t>09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310896" cy="9144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45720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60A5FA"/>
                </a:solidFill>
                <a:latin typeface="Segoe UI"/>
              </a:rPr>
              <a:t>MORE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E8EEF8"/>
                </a:solidFill>
                <a:latin typeface="Segoe UI"/>
              </a:rPr>
              <a:t>Real voice in. Warnings in three languages.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0908792" cy="12801"/>
          </a:xfrm>
          <a:prstGeom prst="rect">
            <a:avLst/>
          </a:prstGeom>
          <a:solidFill>
            <a:srgbClr val="2A3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349240" cy="3566160"/>
          </a:xfrm>
          <a:prstGeom prst="roundRect">
            <a:avLst>
              <a:gd name="adj" fmla="val 8000"/>
            </a:avLst>
          </a:prstGeom>
          <a:solidFill>
            <a:srgbClr val="18213A"/>
          </a:solidFill>
          <a:ln w="12700">
            <a:solidFill>
              <a:srgbClr val="2A3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4028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60A5FA"/>
                </a:solidFill>
                <a:latin typeface="Segoe UI"/>
              </a:rPr>
              <a:t>🎤  Live voice 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880360"/>
            <a:ext cx="466344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9AA8C2"/>
                </a:solidFill>
                <a:latin typeface="Segoe UI"/>
              </a:rPr>
              <a:t>A spoken call is transcribed by Groq Whisper (whisper-large-v3) and fed into the same detection pipeline — so the system works on real audio, not just scripted text.
Verified end to end: spoken scam line → transcript → detection score 97 / 100.
This covers the Speech-AI dimension of the problem statement.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920240"/>
            <a:ext cx="5349240" cy="3566160"/>
          </a:xfrm>
          <a:prstGeom prst="roundRect">
            <a:avLst>
              <a:gd name="adj" fmla="val 8000"/>
            </a:avLst>
          </a:prstGeom>
          <a:solidFill>
            <a:srgbClr val="18213A"/>
          </a:solidFill>
          <a:ln w="12700">
            <a:solidFill>
              <a:srgbClr val="2A3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224028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86EFAC"/>
                </a:solidFill>
                <a:latin typeface="Segoe UI"/>
              </a:rPr>
              <a:t>🗣  Multilingual warnings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88036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E8EEF8"/>
                </a:solidFill>
                <a:latin typeface="Segoe UI"/>
              </a:rPr>
              <a:t>English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3191256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AA8C2"/>
                </a:solidFill>
                <a:latin typeface="Segoe UI"/>
              </a:rPr>
              <a:t>This is a scam. Hang up now.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370332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E8EEF8"/>
                </a:solidFill>
                <a:latin typeface="Segoe UI"/>
              </a:rPr>
              <a:t>हिन्दी (Hindi)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4014215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AA8C2"/>
                </a:solidFill>
                <a:latin typeface="Segoe UI"/>
              </a:rPr>
              <a:t>यह धोखाधड़ी है। तुरंत कॉल काट दें।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452628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E8EEF8"/>
                </a:solidFill>
                <a:latin typeface="Segoe UI"/>
              </a:rPr>
              <a:t>தமிழ் (Tamil)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4837176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AA8C2"/>
                </a:solidFill>
                <a:latin typeface="Segoe UI"/>
              </a:rPr>
              <a:t>இது மோசடி. உடனே துண்டியுங்கள்.</a:t>
            </a:r>
          </a:p>
        </p:txBody>
      </p:sp>
      <p:pic>
        <p:nvPicPr>
          <p:cNvPr id="17" name="Picture 1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00800"/>
            <a:ext cx="219456" cy="21945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1440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288"/>
                </a:solidFill>
                <a:latin typeface="Segoe UI"/>
              </a:rPr>
              <a:t>AntiScam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6400800"/>
            <a:ext cx="28620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47288"/>
                </a:solidFill>
                <a:latin typeface="Segoe UI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310896" cy="9144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45720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60A5FA"/>
                </a:solidFill>
                <a:latin typeface="Segoe UI"/>
              </a:rPr>
              <a:t>UNDER THE HOOD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E8EEF8"/>
                </a:solidFill>
                <a:latin typeface="Segoe UI"/>
              </a:rPr>
              <a:t>Technology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0908792" cy="12801"/>
          </a:xfrm>
          <a:prstGeom prst="rect">
            <a:avLst/>
          </a:prstGeom>
          <a:solidFill>
            <a:srgbClr val="2A3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3566160" cy="1371600"/>
          </a:xfrm>
          <a:prstGeom prst="roundRect">
            <a:avLst>
              <a:gd name="adj" fmla="val 8000"/>
            </a:avLst>
          </a:prstGeom>
          <a:solidFill>
            <a:srgbClr val="18213A"/>
          </a:solidFill>
          <a:ln w="12700">
            <a:solidFill>
              <a:srgbClr val="2A3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2212848"/>
            <a:ext cx="365760" cy="5486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8EEF8"/>
                </a:solidFill>
                <a:latin typeface="Segoe UI"/>
              </a:rPr>
              <a:t>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61488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AA8C2"/>
                </a:solidFill>
                <a:latin typeface="Segoe UI"/>
              </a:rPr>
              <a:t>Python 3.12 · FastAPI · Pydantic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8264" y="1920240"/>
            <a:ext cx="3566160" cy="1371600"/>
          </a:xfrm>
          <a:prstGeom prst="roundRect">
            <a:avLst>
              <a:gd name="adj" fmla="val 8000"/>
            </a:avLst>
          </a:prstGeom>
          <a:solidFill>
            <a:srgbClr val="18213A"/>
          </a:solidFill>
          <a:ln w="12700">
            <a:solidFill>
              <a:srgbClr val="2A3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72584" y="2212848"/>
            <a:ext cx="365760" cy="5486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72584" y="237744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8EEF8"/>
                </a:solidFill>
                <a:latin typeface="Segoe UI"/>
              </a:rPr>
              <a:t>Orchestration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2584" y="2761488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AA8C2"/>
                </a:solidFill>
                <a:latin typeface="Segoe UI"/>
              </a:rPr>
              <a:t>LangGraph · LangChain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6448" y="1920240"/>
            <a:ext cx="3566160" cy="1371600"/>
          </a:xfrm>
          <a:prstGeom prst="roundRect">
            <a:avLst>
              <a:gd name="adj" fmla="val 8000"/>
            </a:avLst>
          </a:prstGeom>
          <a:solidFill>
            <a:srgbClr val="18213A"/>
          </a:solidFill>
          <a:ln w="12700">
            <a:solidFill>
              <a:srgbClr val="2A3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30768" y="2212848"/>
            <a:ext cx="365760" cy="5486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30768" y="237744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8EEF8"/>
                </a:solidFill>
                <a:latin typeface="Segoe UI"/>
              </a:rPr>
              <a:t>LLM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0768" y="2761488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AA8C2"/>
                </a:solidFill>
                <a:latin typeface="Segoe UI"/>
              </a:rPr>
              <a:t>Groq · llama-3.3-70b · Whisper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520440"/>
            <a:ext cx="3566160" cy="1371600"/>
          </a:xfrm>
          <a:prstGeom prst="roundRect">
            <a:avLst>
              <a:gd name="adj" fmla="val 8000"/>
            </a:avLst>
          </a:prstGeom>
          <a:solidFill>
            <a:srgbClr val="18213A"/>
          </a:solidFill>
          <a:ln w="12700">
            <a:solidFill>
              <a:srgbClr val="2A3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" y="3813048"/>
            <a:ext cx="365760" cy="5486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977639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8EEF8"/>
                </a:solidFill>
                <a:latin typeface="Segoe UI"/>
              </a:rPr>
              <a:t>Retrieval (RAG)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361688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AA8C2"/>
                </a:solidFill>
                <a:latin typeface="Segoe UI"/>
              </a:rPr>
              <a:t>ChromaDB · local ONNX embeddings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98264" y="3520440"/>
            <a:ext cx="3566160" cy="1371600"/>
          </a:xfrm>
          <a:prstGeom prst="roundRect">
            <a:avLst>
              <a:gd name="adj" fmla="val 8000"/>
            </a:avLst>
          </a:prstGeom>
          <a:solidFill>
            <a:srgbClr val="18213A"/>
          </a:solidFill>
          <a:ln w="12700">
            <a:solidFill>
              <a:srgbClr val="2A3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672584" y="3813048"/>
            <a:ext cx="365760" cy="5486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72584" y="3977639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8EEF8"/>
                </a:solidFill>
                <a:latin typeface="Segoe UI"/>
              </a:rPr>
              <a:t>Fraud graph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72584" y="4361688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AA8C2"/>
                </a:solidFill>
                <a:latin typeface="Segoe UI"/>
              </a:rPr>
              <a:t>NetworkX · in-memory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56448" y="3520440"/>
            <a:ext cx="3566160" cy="1371600"/>
          </a:xfrm>
          <a:prstGeom prst="roundRect">
            <a:avLst>
              <a:gd name="adj" fmla="val 8000"/>
            </a:avLst>
          </a:prstGeom>
          <a:solidFill>
            <a:srgbClr val="18213A"/>
          </a:solidFill>
          <a:ln w="12700">
            <a:solidFill>
              <a:srgbClr val="2A3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430768" y="3813048"/>
            <a:ext cx="365760" cy="5486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30768" y="3977639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8EEF8"/>
                </a:solidFill>
                <a:latin typeface="Segoe UI"/>
              </a:rPr>
              <a:t>Frontend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0768" y="4361688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AA8C2"/>
                </a:solidFill>
                <a:latin typeface="Segoe UI"/>
              </a:rPr>
              <a:t>React 19 · Vite · Recharts · D3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5257800"/>
            <a:ext cx="10908792" cy="822960"/>
          </a:xfrm>
          <a:prstGeom prst="roundRect">
            <a:avLst>
              <a:gd name="adj" fmla="val 8000"/>
            </a:avLst>
          </a:prstGeom>
          <a:solidFill>
            <a:srgbClr val="11182B"/>
          </a:solidFill>
          <a:ln w="12700">
            <a:solidFill>
              <a:srgbClr val="2A3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440680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9AA8C2"/>
                </a:solidFill>
                <a:latin typeface="Segoe UI"/>
              </a:rPr>
              <a:t>Engineering discipline: no secrets in code · rate-limit degrades to rules in &lt;500 ms · identifiers extracted deterministically (never hallucinated) · 84 automated tests.</a:t>
            </a:r>
          </a:p>
        </p:txBody>
      </p:sp>
      <p:pic>
        <p:nvPicPr>
          <p:cNvPr id="32" name="Picture 3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00800"/>
            <a:ext cx="219456" cy="21945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91440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288"/>
                </a:solidFill>
                <a:latin typeface="Segoe UI"/>
              </a:rPr>
              <a:t>AntiScam AI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6400800"/>
            <a:ext cx="28620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47288"/>
                </a:solidFill>
                <a:latin typeface="Segoe UI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310896" cy="9144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45720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60A5FA"/>
                </a:solidFill>
                <a:latin typeface="Segoe UI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E8EEF8"/>
                </a:solidFill>
                <a:latin typeface="Segoe UI"/>
              </a:rPr>
              <a:t>Measured, not claimed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0908792" cy="12801"/>
          </a:xfrm>
          <a:prstGeom prst="rect">
            <a:avLst/>
          </a:prstGeom>
          <a:solidFill>
            <a:srgbClr val="2A3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2048256" cy="1783080"/>
          </a:xfrm>
          <a:prstGeom prst="roundRect">
            <a:avLst>
              <a:gd name="adj" fmla="val 8000"/>
            </a:avLst>
          </a:prstGeom>
          <a:solidFill>
            <a:srgbClr val="18213A"/>
          </a:solidFill>
          <a:ln w="12700">
            <a:solidFill>
              <a:srgbClr val="2A3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21408"/>
            <a:ext cx="2048256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60A5FA"/>
                </a:solidFill>
                <a:latin typeface="Segoe UI"/>
              </a:rPr>
              <a:t>~2s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282696"/>
            <a:ext cx="195681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9AA8C2"/>
                </a:solidFill>
                <a:latin typeface="Segoe UI"/>
              </a:rPr>
              <a:t>detection latency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71216" y="1920240"/>
            <a:ext cx="2048256" cy="1783080"/>
          </a:xfrm>
          <a:prstGeom prst="roundRect">
            <a:avLst>
              <a:gd name="adj" fmla="val 8000"/>
            </a:avLst>
          </a:prstGeom>
          <a:solidFill>
            <a:srgbClr val="18213A"/>
          </a:solidFill>
          <a:ln w="12700">
            <a:solidFill>
              <a:srgbClr val="2A3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71216" y="2121408"/>
            <a:ext cx="2048256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F87171"/>
                </a:solidFill>
                <a:latin typeface="Segoe UI"/>
              </a:rPr>
              <a:t>90+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16936" y="3282696"/>
            <a:ext cx="195681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9AA8C2"/>
                </a:solidFill>
                <a:latin typeface="Segoe UI"/>
              </a:rPr>
              <a:t>obvious-scam score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02352" y="1920240"/>
            <a:ext cx="2048256" cy="1783080"/>
          </a:xfrm>
          <a:prstGeom prst="roundRect">
            <a:avLst>
              <a:gd name="adj" fmla="val 8000"/>
            </a:avLst>
          </a:prstGeom>
          <a:solidFill>
            <a:srgbClr val="18213A"/>
          </a:solidFill>
          <a:ln w="12700">
            <a:solidFill>
              <a:srgbClr val="2A3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02352" y="2121408"/>
            <a:ext cx="2048256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34D07E"/>
                </a:solidFill>
                <a:latin typeface="Segoe UI"/>
              </a:rPr>
              <a:t>&lt;10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48072" y="3282696"/>
            <a:ext cx="195681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9AA8C2"/>
                </a:solidFill>
                <a:latin typeface="Segoe UI"/>
              </a:rPr>
              <a:t>legitimate-call score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33488" y="1920240"/>
            <a:ext cx="2048256" cy="1783080"/>
          </a:xfrm>
          <a:prstGeom prst="roundRect">
            <a:avLst>
              <a:gd name="adj" fmla="val 8000"/>
            </a:avLst>
          </a:prstGeom>
          <a:solidFill>
            <a:srgbClr val="18213A"/>
          </a:solidFill>
          <a:ln w="12700">
            <a:solidFill>
              <a:srgbClr val="2A3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33488" y="2121408"/>
            <a:ext cx="2048256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86EFAC"/>
                </a:solidFill>
                <a:latin typeface="Segoe UI"/>
              </a:rPr>
              <a:t>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79208" y="3282696"/>
            <a:ext cx="195681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9AA8C2"/>
                </a:solidFill>
                <a:latin typeface="Segoe UI"/>
              </a:rPr>
              <a:t>false positives*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64624" y="1920240"/>
            <a:ext cx="1984248" cy="1783080"/>
          </a:xfrm>
          <a:prstGeom prst="roundRect">
            <a:avLst>
              <a:gd name="adj" fmla="val 8000"/>
            </a:avLst>
          </a:prstGeom>
          <a:solidFill>
            <a:srgbClr val="18213A"/>
          </a:solidFill>
          <a:ln w="12700">
            <a:solidFill>
              <a:srgbClr val="2A3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64624" y="2121408"/>
            <a:ext cx="1984248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60A5FA"/>
                </a:solidFill>
                <a:latin typeface="Segoe UI"/>
              </a:rPr>
              <a:t>84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10344" y="3282696"/>
            <a:ext cx="1892807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9AA8C2"/>
                </a:solidFill>
                <a:latin typeface="Segoe UI"/>
              </a:rPr>
              <a:t>tests passing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977639"/>
            <a:ext cx="10908792" cy="1783080"/>
          </a:xfrm>
          <a:prstGeom prst="roundRect">
            <a:avLst>
              <a:gd name="adj" fmla="val 8000"/>
            </a:avLst>
          </a:prstGeom>
          <a:solidFill>
            <a:srgbClr val="11182B"/>
          </a:solidFill>
          <a:ln w="12700">
            <a:solidFill>
              <a:srgbClr val="2A3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160520"/>
            <a:ext cx="104241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8EEF8"/>
                </a:solidFill>
                <a:latin typeface="Segoe UI"/>
              </a:rPr>
              <a:t>The false-positive rate is what makes a citizen tool usable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617720"/>
            <a:ext cx="1042416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9AA8C2"/>
                </a:solidFill>
                <a:latin typeface="Segoe UI"/>
              </a:rPr>
              <a:t>Evaluation uses a hand-curated benchmark with deliberate HARD NEGATIVES — legitimate calls engineered to look scam-like (a genuine bank fraud alert, a real delivery OTP, an overdue-EMI reminder, a recruiter). A detector that only handles easy negatives reports a flattering number that means nothing. AntiScam AI holds 0% on the hard set.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943600"/>
            <a:ext cx="1090879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647288"/>
                </a:solidFill>
                <a:latin typeface="Segoe UI"/>
              </a:rPr>
              <a:t>* on the hard-negative subset; rule-layer floor is reproducible with no API key</a:t>
            </a:r>
          </a:p>
        </p:txBody>
      </p:sp>
      <p:pic>
        <p:nvPicPr>
          <p:cNvPr id="25" name="Picture 2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00800"/>
            <a:ext cx="219456" cy="219456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1440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288"/>
                </a:solidFill>
                <a:latin typeface="Segoe UI"/>
              </a:rPr>
              <a:t>AntiScam AI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6400800"/>
            <a:ext cx="28620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47288"/>
                </a:solidFill>
                <a:latin typeface="Segoe UI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310896" cy="9144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45720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60A5FA"/>
                </a:solidFill>
                <a:latin typeface="Segoe UI"/>
              </a:rPr>
              <a:t>WHY IT 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E8EEF8"/>
                </a:solidFill>
                <a:latin typeface="Segoe UI"/>
              </a:rPr>
              <a:t>Built around the evaluation focus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0908792" cy="12801"/>
          </a:xfrm>
          <a:prstGeom prst="rect">
            <a:avLst/>
          </a:prstGeom>
          <a:solidFill>
            <a:srgbClr val="2A3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5349240" cy="1207008"/>
          </a:xfrm>
          <a:prstGeom prst="roundRect">
            <a:avLst>
              <a:gd name="adj" fmla="val 8000"/>
            </a:avLst>
          </a:prstGeom>
          <a:solidFill>
            <a:srgbClr val="18213A"/>
          </a:solidFill>
          <a:ln w="12700">
            <a:solidFill>
              <a:srgbClr val="2A3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74519"/>
            <a:ext cx="82296" cy="1207008"/>
          </a:xfrm>
          <a:prstGeom prst="rect">
            <a:avLst/>
          </a:prstGeom>
          <a:solidFill>
            <a:srgbClr val="34D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19" y="2057400"/>
            <a:ext cx="48920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E8EEF8"/>
                </a:solidFill>
                <a:latin typeface="Segoe UI"/>
              </a:rPr>
              <a:t>Detection precision &amp; recall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19" y="2496312"/>
            <a:ext cx="48920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9AA8C2"/>
                </a:solidFill>
                <a:latin typeface="Segoe UI"/>
              </a:rPr>
              <a:t>Fused rule + LLM detector, with a metrics harness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1874519"/>
            <a:ext cx="5349240" cy="1207008"/>
          </a:xfrm>
          <a:prstGeom prst="roundRect">
            <a:avLst>
              <a:gd name="adj" fmla="val 8000"/>
            </a:avLst>
          </a:prstGeom>
          <a:solidFill>
            <a:srgbClr val="18213A"/>
          </a:solidFill>
          <a:ln w="12700">
            <a:solidFill>
              <a:srgbClr val="2A3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81344" y="1874519"/>
            <a:ext cx="82296" cy="1207008"/>
          </a:xfrm>
          <a:prstGeom prst="rect">
            <a:avLst/>
          </a:prstGeom>
          <a:solidFill>
            <a:srgbClr val="34D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1383" y="2057400"/>
            <a:ext cx="48920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E8EEF8"/>
                </a:solidFill>
                <a:latin typeface="Segoe UI"/>
              </a:rPr>
              <a:t>Lead time before victimisation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1383" y="2496312"/>
            <a:ext cx="48920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9AA8C2"/>
                </a:solidFill>
                <a:latin typeface="Segoe UI"/>
              </a:rPr>
              <a:t>The interception lead-time is a headline feature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246120"/>
            <a:ext cx="5349240" cy="1207008"/>
          </a:xfrm>
          <a:prstGeom prst="roundRect">
            <a:avLst>
              <a:gd name="adj" fmla="val 8000"/>
            </a:avLst>
          </a:prstGeom>
          <a:solidFill>
            <a:srgbClr val="18213A"/>
          </a:solidFill>
          <a:ln w="12700">
            <a:solidFill>
              <a:srgbClr val="2A3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246120"/>
            <a:ext cx="82296" cy="1207008"/>
          </a:xfrm>
          <a:prstGeom prst="rect">
            <a:avLst/>
          </a:prstGeom>
          <a:solidFill>
            <a:srgbClr val="34D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19" y="3429000"/>
            <a:ext cx="48920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E8EEF8"/>
                </a:solidFill>
                <a:latin typeface="Segoe UI"/>
              </a:rPr>
              <a:t>Very low false-positive 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19" y="3867911"/>
            <a:ext cx="48920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9AA8C2"/>
                </a:solidFill>
                <a:latin typeface="Segoe UI"/>
              </a:rPr>
              <a:t>0% on hard-negative legitimate calls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1344" y="3246120"/>
            <a:ext cx="5349240" cy="1207008"/>
          </a:xfrm>
          <a:prstGeom prst="roundRect">
            <a:avLst>
              <a:gd name="adj" fmla="val 8000"/>
            </a:avLst>
          </a:prstGeom>
          <a:solidFill>
            <a:srgbClr val="18213A"/>
          </a:solidFill>
          <a:ln w="12700">
            <a:solidFill>
              <a:srgbClr val="2A3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81344" y="3246120"/>
            <a:ext cx="82296" cy="1207008"/>
          </a:xfrm>
          <a:prstGeom prst="rect">
            <a:avLst/>
          </a:prstGeom>
          <a:solidFill>
            <a:srgbClr val="34D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01383" y="3429000"/>
            <a:ext cx="48920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E8EEF8"/>
                </a:solidFill>
                <a:latin typeface="Segoe UI"/>
              </a:rPr>
              <a:t>Auditability for admissibility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1383" y="3867911"/>
            <a:ext cx="48920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9AA8C2"/>
                </a:solidFill>
                <a:latin typeface="Segoe UI"/>
              </a:rPr>
              <a:t>Timestamped evidence + deterministic identifiers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754880"/>
            <a:ext cx="10908792" cy="1005840"/>
          </a:xfrm>
          <a:prstGeom prst="roundRect">
            <a:avLst>
              <a:gd name="adj" fmla="val 8000"/>
            </a:avLst>
          </a:prstGeom>
          <a:solidFill>
            <a:srgbClr val="0F1C33"/>
          </a:solidFill>
          <a:ln w="1651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956048"/>
            <a:ext cx="104241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60A5FA"/>
                </a:solidFill>
                <a:latin typeface="Segoe UI"/>
              </a:rPr>
              <a:t>Coverage: 5 of 6 build areas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34924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AA8C2"/>
                </a:solidFill>
                <a:latin typeface="Segoe UI"/>
              </a:rPr>
              <a:t>Detection · Fraud-network graph · Geospatial · Citizen advisory (EN/HI/TA) · Speech-AI. Counterfeit-currency is a separate computer-vision track, deliberately scoped out.</a:t>
            </a:r>
          </a:p>
        </p:txBody>
      </p:sp>
      <p:pic>
        <p:nvPicPr>
          <p:cNvPr id="25" name="Picture 2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00800"/>
            <a:ext cx="219456" cy="219456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1440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288"/>
                </a:solidFill>
                <a:latin typeface="Segoe UI"/>
              </a:rPr>
              <a:t>AntiScam AI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6400800"/>
            <a:ext cx="28620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47288"/>
                </a:solidFill>
                <a:latin typeface="Segoe UI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310896" cy="9144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45720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60A5FA"/>
                </a:solidFill>
                <a:latin typeface="Segoe UI"/>
              </a:rPr>
              <a:t>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E8EEF8"/>
                </a:solidFill>
                <a:latin typeface="Segoe UI"/>
              </a:rPr>
              <a:t>Prototype today, platform tomorrow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0908792" cy="12801"/>
          </a:xfrm>
          <a:prstGeom prst="rect">
            <a:avLst/>
          </a:prstGeom>
          <a:solidFill>
            <a:srgbClr val="2A3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349240" cy="3657600"/>
          </a:xfrm>
          <a:prstGeom prst="roundRect">
            <a:avLst>
              <a:gd name="adj" fmla="val 8000"/>
            </a:avLst>
          </a:prstGeom>
          <a:solidFill>
            <a:srgbClr val="18213A"/>
          </a:solidFill>
          <a:ln w="12700">
            <a:solidFill>
              <a:srgbClr val="2A3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EAB308"/>
                </a:solidFill>
                <a:latin typeface="Segoe UI"/>
              </a:rPr>
              <a:t>Honest limits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743200"/>
            <a:ext cx="466344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250" b="1">
                <a:solidFill>
                  <a:srgbClr val="3B82F6"/>
                </a:solidFill>
              </a:rPr>
              <a:t>▸  </a:t>
            </a:r>
            <a:r>
              <a:rPr sz="1250" b="1">
                <a:solidFill>
                  <a:srgbClr val="E8EEF8"/>
                </a:solidFill>
                <a:latin typeface="Segoe UI"/>
              </a:rPr>
              <a:t>Synthetic data</a:t>
            </a:r>
            <a:r>
              <a:rPr sz="1250">
                <a:solidFill>
                  <a:srgbClr val="9AA8C2"/>
                </a:solidFill>
                <a:latin typeface="Segoe UI"/>
              </a:rPr>
              <a:t> — metrics reflect generated transcripts, cleaner than reality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250" b="1">
                <a:solidFill>
                  <a:srgbClr val="3B82F6"/>
                </a:solidFill>
              </a:rPr>
              <a:t>▸  </a:t>
            </a:r>
            <a:r>
              <a:rPr sz="1250" b="1">
                <a:solidFill>
                  <a:srgbClr val="E8EEF8"/>
                </a:solidFill>
                <a:latin typeface="Segoe UI"/>
              </a:rPr>
              <a:t>No live telecom tap</a:t>
            </a:r>
            <a:r>
              <a:rPr sz="1250">
                <a:solidFill>
                  <a:srgbClr val="9AA8C2"/>
                </a:solidFill>
                <a:latin typeface="Segoe UI"/>
              </a:rPr>
              <a:t> — calls are replayed or spoken in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250" b="1">
                <a:solidFill>
                  <a:srgbClr val="3B82F6"/>
                </a:solidFill>
              </a:rPr>
              <a:t>▸  </a:t>
            </a:r>
            <a:r>
              <a:rPr sz="1250" b="1">
                <a:solidFill>
                  <a:srgbClr val="E8EEF8"/>
                </a:solidFill>
                <a:latin typeface="Segoe UI"/>
              </a:rPr>
              <a:t>Illustrative legal text</a:t>
            </a:r>
            <a:r>
              <a:rPr sz="1250">
                <a:solidFill>
                  <a:srgbClr val="9AA8C2"/>
                </a:solidFill>
                <a:latin typeface="Segoe UI"/>
              </a:rPr>
              <a:t> — not verified legal advice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250" b="1">
                <a:solidFill>
                  <a:srgbClr val="3B82F6"/>
                </a:solidFill>
              </a:rPr>
              <a:t>▸  </a:t>
            </a:r>
            <a:r>
              <a:rPr sz="1250" b="1">
                <a:solidFill>
                  <a:srgbClr val="E8EEF8"/>
                </a:solidFill>
                <a:latin typeface="Segoe UI"/>
              </a:rPr>
              <a:t>In-memory graph</a:t>
            </a:r>
            <a:r>
              <a:rPr sz="1250">
                <a:solidFill>
                  <a:srgbClr val="9AA8C2"/>
                </a:solidFill>
                <a:latin typeface="Segoe UI"/>
              </a:rPr>
              <a:t> — production needs a persistent store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920240"/>
            <a:ext cx="5349240" cy="3657600"/>
          </a:xfrm>
          <a:prstGeom prst="roundRect">
            <a:avLst>
              <a:gd name="adj" fmla="val 8000"/>
            </a:avLst>
          </a:prstGeom>
          <a:solidFill>
            <a:srgbClr val="18213A"/>
          </a:solidFill>
          <a:ln w="12700">
            <a:solidFill>
              <a:srgbClr val="2A3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219456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86EFAC"/>
                </a:solidFill>
                <a:latin typeface="Segoe UI"/>
              </a:rPr>
              <a:t>Roadmap to production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743200"/>
            <a:ext cx="466344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250" b="1">
                <a:solidFill>
                  <a:srgbClr val="3B82F6"/>
                </a:solidFill>
              </a:rPr>
              <a:t>▸  </a:t>
            </a:r>
            <a:r>
              <a:rPr sz="1250" b="1">
                <a:solidFill>
                  <a:srgbClr val="E8EEF8"/>
                </a:solidFill>
                <a:latin typeface="Segoe UI"/>
              </a:rPr>
              <a:t>On-device / telecom STT</a:t>
            </a:r>
            <a:r>
              <a:rPr sz="1250">
                <a:solidFill>
                  <a:srgbClr val="9AA8C2"/>
                </a:solidFill>
                <a:latin typeface="Segoe UI"/>
              </a:rPr>
              <a:t> — for true live-call interception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250" b="1">
                <a:solidFill>
                  <a:srgbClr val="3B82F6"/>
                </a:solidFill>
              </a:rPr>
              <a:t>▸  </a:t>
            </a:r>
            <a:r>
              <a:rPr sz="1250" b="1">
                <a:solidFill>
                  <a:srgbClr val="E8EEF8"/>
                </a:solidFill>
                <a:latin typeface="Segoe UI"/>
              </a:rPr>
              <a:t>Auto-dispatch</a:t>
            </a:r>
            <a:r>
              <a:rPr sz="1250">
                <a:solidFill>
                  <a:srgbClr val="9AA8C2"/>
                </a:solidFill>
                <a:latin typeface="Segoe UI"/>
              </a:rPr>
              <a:t> — push disruption packets to bank &amp; DoT APIs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250" b="1">
                <a:solidFill>
                  <a:srgbClr val="3B82F6"/>
                </a:solidFill>
              </a:rPr>
              <a:t>▸  </a:t>
            </a:r>
            <a:r>
              <a:rPr sz="1250" b="1">
                <a:solidFill>
                  <a:srgbClr val="E8EEF8"/>
                </a:solidFill>
                <a:latin typeface="Segoe UI"/>
              </a:rPr>
              <a:t>Neo4j graph store</a:t>
            </a:r>
            <a:r>
              <a:rPr sz="1250">
                <a:solidFill>
                  <a:srgbClr val="9AA8C2"/>
                </a:solidFill>
                <a:latin typeface="Segoe UI"/>
              </a:rPr>
              <a:t> — with privacy &amp; retention controls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250" b="1">
                <a:solidFill>
                  <a:srgbClr val="3B82F6"/>
                </a:solidFill>
              </a:rPr>
              <a:t>▸  </a:t>
            </a:r>
            <a:r>
              <a:rPr sz="1250" b="1">
                <a:solidFill>
                  <a:srgbClr val="E8EEF8"/>
                </a:solidFill>
                <a:latin typeface="Segoe UI"/>
              </a:rPr>
              <a:t>12 regional languages</a:t>
            </a:r>
            <a:r>
              <a:rPr sz="1250">
                <a:solidFill>
                  <a:srgbClr val="9AA8C2"/>
                </a:solidFill>
                <a:latin typeface="Segoe UI"/>
              </a:rPr>
              <a:t> — plus WhatsApp / IVR citizen channels</a:t>
            </a:r>
          </a:p>
        </p:txBody>
      </p:sp>
      <p:pic>
        <p:nvPicPr>
          <p:cNvPr id="12" name="Picture 1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00800"/>
            <a:ext cx="219456" cy="219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1440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288"/>
                </a:solidFill>
                <a:latin typeface="Segoe UI"/>
              </a:rPr>
              <a:t>AntiScam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6400800"/>
            <a:ext cx="28620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47288"/>
                </a:solidFill>
                <a:latin typeface="Segoe UI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0067" y="1417320"/>
            <a:ext cx="1051560" cy="1051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2743200"/>
            <a:ext cx="1219169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E8EEF8"/>
                </a:solidFill>
                <a:latin typeface="Segoe UI"/>
              </a:rPr>
              <a:t>Intercepting fraud — before the money moves.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65760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9AA8C2"/>
                </a:solidFill>
                <a:latin typeface="Segoe UI"/>
              </a:rPr>
              <a:t>Real-time detection · cross-victim intelligence · disruption at the source.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90007" y="4343400"/>
            <a:ext cx="2011680" cy="27432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457200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E8EEF8"/>
                </a:solidFill>
                <a:latin typeface="Segoe UI"/>
              </a:rPr>
              <a:t>Pavankumar T   ·   pavankumart.aids2024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02920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60A5FA"/>
                </a:solidFill>
                <a:latin typeface="Segoe UI"/>
              </a:rPr>
              <a:t>github.com/Pavankumar06T/AntiScam-AI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557784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647288"/>
                </a:solidFill>
                <a:latin typeface="Segoe UI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